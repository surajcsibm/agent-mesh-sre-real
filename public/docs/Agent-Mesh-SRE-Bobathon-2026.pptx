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2" r:id="rId3"/>
    <p:sldId id="273" r:id="rId4"/>
    <p:sldId id="274" r:id="rId5"/>
    <p:sldId id="275" r:id="rId6"/>
    <p:sldId id="27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378"/>
    <p:restoredTop sz="94610"/>
  </p:normalViewPr>
  <p:slideViewPr>
    <p:cSldViewPr snapToGrid="0" snapToObjects="1">
      <p:cViewPr varScale="1">
        <p:scale>
          <a:sx n="201" d="100"/>
          <a:sy n="201" d="100"/>
        </p:scale>
        <p:origin x="208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371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976C8-51C0-EB3A-4D48-DDBCD2B2D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067D8-ACF1-1137-C385-32B2838F1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3FD95-FFED-C88C-742D-F68870AD4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DA24-D601-66C4-EA01-AD5E3FCB4E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729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C079-808D-B91F-3C4B-905CAA855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A2A86-B9E7-9D76-A3ED-4B84C77CE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249E5-AB84-CB49-65B4-9325D9F65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6E1C8-D0C3-D530-E360-090B121C87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283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677-1060-5DC5-D905-6B6AA232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9BD3D-D46F-65DB-D275-DDB44AB9D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2CC85-75D7-6ABE-DFE4-89109D7D1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18A63-DE37-5A74-0425-77F9D780B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09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94CA9-6003-04DF-370D-755C3E09E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A6A30-14B7-9553-FB2D-56E7D4485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CBB7A-FAED-80F8-216C-19ADF07B9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F762C-396E-934F-266A-A9D2AC660A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45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18BD9-A62F-699E-DB94-59D57195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11F5F-818C-A162-3C03-CF3214445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283D5-58DA-6360-817B-C0027CFC0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proof of concept. The goal is to show how an AI agent mesh can automate Kafka operational workflows — detection, root-cause analysis, gated remediation, and continuous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3514C-3EF4-8290-7385-472FCCE452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3289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 and Ben represent the two primary users. Ken needs situational awareness and accountability. Ben needs fast, automated diagnosis when his services break. Both benefit without changing their own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phase is stateless — state flows through Kafka topics. The Monitor agent reads from ops.lessons.v1 (compacted) on startup, so past learnings are always available regardless of how old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boundaries map to Kafka topic boundaries. Each agent is independently deployable. In this POC all agents share a single Node.js process with SSE (Server-Sent Events) for real-time UI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design follows the principle of purpose-built retention. ops.lessons.v1 uses log compaction so the knowledge base is never truncated — the Monitor agent can always read the full history of lessons on startup.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of 11 scenarios are gate-controlled. These are the ones that mutate cluster state: partition reassignment, consumer scaling, schema compatibility changes, share group checkpoints. The rest are read-only or purely suppressive.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approval gate is synchronous — the scenario pauses until the operator acts. Rejected actions are fully audited: the scenario aborts and the rejection reason is written to the audit topic. No partial execution is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Monitor agent does not simply compare metrics against static thresholds. It correlates signals across broker, controller, consumer group, and topic dimensions before producing a ranked candidate list with a confidence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SSE = Server-Sent Events — a standard HTTP streaming protocol used here to push real-time agent events from the server to the browser without WebSocket overhead. The audit log and lessons are Kafka-native — they outlive any UI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POC consolidates all agents in one process for simplicity. The topic-based decoupling means splitting into microservices is straightforward — each agent just needs its own consumer group and topic subscriptions.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563A8">
              <a:alpha val="18000"/>
            </a:srgbClr>
          </a:solidFill>
          <a:ln w="12700">
            <a:solidFill>
              <a:srgbClr val="2563A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3B82C4">
              <a:alpha val="12000"/>
            </a:srgbClr>
          </a:solidFill>
          <a:ln w="12700">
            <a:solidFill>
              <a:srgbClr val="3B82C4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Mesh SRE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6400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Operations</a:t>
            </a:r>
            <a:endParaRPr lang="en-US" sz="2200" dirty="0"/>
          </a:p>
          <a:p>
            <a:pPr marL="0" indent="0" algn="l">
              <a:buNone/>
            </a:pPr>
            <a:r>
              <a:rPr lang="en-US" sz="22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Orchestrated by AI Agents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3200400" cy="0"/>
          </a:xfrm>
          <a:prstGeom prst="line">
            <a:avLst/>
          </a:prstGeom>
          <a:noFill/>
          <a:ln w="1524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 ·  Reason  ·  Act  ·  Learn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for Kubernetes on Civo  ·  KRaft mode  ·  3 brokers  ·  7 topics  ·  Deployed on Vercel</a:t>
            </a:r>
            <a:endParaRPr lang="en-US" sz="9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92FEB6-729D-E304-C534-1D80DE4C2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410AA2-7B6C-3A53-EBAC-3DFCE24EE80F}"/>
              </a:ext>
            </a:extLst>
          </p:cNvPr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PIVOT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30CA4A-9DD2-B42A-F3C7-8B32A76933C3}"/>
              </a:ext>
            </a:extLst>
          </p:cNvPr>
          <p:cNvSpPr/>
          <p:nvPr/>
        </p:nvSpPr>
        <p:spPr>
          <a:xfrm>
            <a:off x="411480" y="320040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Kafka Ops POC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Agentic AI Data Platform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4B9F5E-7B87-0FF8-23B9-212DB620BCBD}"/>
              </a:ext>
            </a:extLst>
          </p:cNvPr>
          <p:cNvSpPr/>
          <p:nvPr/>
        </p:nvSpPr>
        <p:spPr>
          <a:xfrm>
            <a:off x="411480" y="141732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POC demonstrates a pattern that extends well beyond operations — Confluent as the intelligent backbone for IBM's Agentic AI applications.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E9E832F-AE84-24AB-4EAE-0A85202C9AE0}"/>
              </a:ext>
            </a:extLst>
          </p:cNvPr>
          <p:cNvSpPr/>
          <p:nvPr/>
        </p:nvSpPr>
        <p:spPr>
          <a:xfrm>
            <a:off x="347472" y="1874520"/>
            <a:ext cx="8449056" cy="868680"/>
          </a:xfrm>
          <a:prstGeom prst="roundRect">
            <a:avLst>
              <a:gd name="adj" fmla="val 10526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8182A10-BFA5-AFFB-BAE9-23CCC1BC4D7C}"/>
              </a:ext>
            </a:extLst>
          </p:cNvPr>
          <p:cNvSpPr/>
          <p:nvPr/>
        </p:nvSpPr>
        <p:spPr>
          <a:xfrm>
            <a:off x="475488" y="200253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44EEC21-3120-EF98-EF9B-72E9F96D7FF3}"/>
              </a:ext>
            </a:extLst>
          </p:cNvPr>
          <p:cNvSpPr/>
          <p:nvPr/>
        </p:nvSpPr>
        <p:spPr>
          <a:xfrm>
            <a:off x="475488" y="20025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Operations Tool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DF4FE93-7368-CD2D-4E2C-57542FE2F03C}"/>
              </a:ext>
            </a:extLst>
          </p:cNvPr>
          <p:cNvSpPr/>
          <p:nvPr/>
        </p:nvSpPr>
        <p:spPr>
          <a:xfrm>
            <a:off x="3182112" y="200253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B8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611D03D-3BFA-EE3F-6278-1283090C1BA7}"/>
              </a:ext>
            </a:extLst>
          </p:cNvPr>
          <p:cNvSpPr/>
          <p:nvPr/>
        </p:nvSpPr>
        <p:spPr>
          <a:xfrm>
            <a:off x="3602736" y="200253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5EF801F-0425-BDAA-02E5-65CDAF29ADBA}"/>
              </a:ext>
            </a:extLst>
          </p:cNvPr>
          <p:cNvSpPr/>
          <p:nvPr/>
        </p:nvSpPr>
        <p:spPr>
          <a:xfrm>
            <a:off x="3602736" y="20025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 Data Pipeline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E379ED4-F7B2-4381-00FA-C519C746664F}"/>
              </a:ext>
            </a:extLst>
          </p:cNvPr>
          <p:cNvSpPr/>
          <p:nvPr/>
        </p:nvSpPr>
        <p:spPr>
          <a:xfrm>
            <a:off x="6400800" y="1947672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streams live enterprise data — transactions, events, logs, sensor feeds — directly into AI agent context windows as it happens.</a:t>
            </a:r>
            <a:endParaRPr lang="en-US" sz="9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B6D6DA4-C14C-32A7-D9AF-6FD0AEE4A34D}"/>
              </a:ext>
            </a:extLst>
          </p:cNvPr>
          <p:cNvSpPr/>
          <p:nvPr/>
        </p:nvSpPr>
        <p:spPr>
          <a:xfrm>
            <a:off x="347472" y="2880360"/>
            <a:ext cx="8449056" cy="868680"/>
          </a:xfrm>
          <a:prstGeom prst="roundRect">
            <a:avLst>
              <a:gd name="adj" fmla="val 10526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6E43ED7-C9E7-704E-C2BA-62538E66FFF5}"/>
              </a:ext>
            </a:extLst>
          </p:cNvPr>
          <p:cNvSpPr/>
          <p:nvPr/>
        </p:nvSpPr>
        <p:spPr>
          <a:xfrm>
            <a:off x="475488" y="300837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71F3FDA-ABC1-DEAE-3601-8C43B0C2A199}"/>
              </a:ext>
            </a:extLst>
          </p:cNvPr>
          <p:cNvSpPr/>
          <p:nvPr/>
        </p:nvSpPr>
        <p:spPr>
          <a:xfrm>
            <a:off x="475488" y="3008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Approvals</a:t>
            </a:r>
            <a:endParaRPr lang="en-US" sz="11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3D7C72E-D74E-54B2-1F43-A546E841FDBD}"/>
              </a:ext>
            </a:extLst>
          </p:cNvPr>
          <p:cNvSpPr/>
          <p:nvPr/>
        </p:nvSpPr>
        <p:spPr>
          <a:xfrm>
            <a:off x="3182112" y="300837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665DF502-484B-8A4F-0C80-83125E07BBC9}"/>
              </a:ext>
            </a:extLst>
          </p:cNvPr>
          <p:cNvSpPr/>
          <p:nvPr/>
        </p:nvSpPr>
        <p:spPr>
          <a:xfrm>
            <a:off x="3602736" y="300837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C97F3E1-A510-ED3D-7F22-BA01C6B5B710}"/>
              </a:ext>
            </a:extLst>
          </p:cNvPr>
          <p:cNvSpPr/>
          <p:nvPr/>
        </p:nvSpPr>
        <p:spPr>
          <a:xfrm>
            <a:off x="3602736" y="300837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Policy-Governed AI Actions</a:t>
            </a:r>
            <a:endParaRPr lang="en-US" sz="11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7B21A90-6A94-C3E2-AC41-B84B0A0F1A89}"/>
              </a:ext>
            </a:extLst>
          </p:cNvPr>
          <p:cNvSpPr/>
          <p:nvPr/>
        </p:nvSpPr>
        <p:spPr>
          <a:xfrm>
            <a:off x="6400800" y="2953512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approval gate pattern governs any AI-initiated action in production — financial moves, infra changes, customer communications.</a:t>
            </a:r>
            <a:endParaRPr lang="en-US" sz="9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6B4BA89-63D9-7640-0506-DFF5EDB73C77}"/>
              </a:ext>
            </a:extLst>
          </p:cNvPr>
          <p:cNvSpPr/>
          <p:nvPr/>
        </p:nvSpPr>
        <p:spPr>
          <a:xfrm>
            <a:off x="347472" y="3886200"/>
            <a:ext cx="8449056" cy="868680"/>
          </a:xfrm>
          <a:prstGeom prst="roundRect">
            <a:avLst>
              <a:gd name="adj" fmla="val 10526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0093115-6A17-28C2-8910-178BF23FF017}"/>
              </a:ext>
            </a:extLst>
          </p:cNvPr>
          <p:cNvSpPr/>
          <p:nvPr/>
        </p:nvSpPr>
        <p:spPr>
          <a:xfrm>
            <a:off x="475488" y="401421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7C1477F-E51A-1562-26AF-CD56B31A3CB9}"/>
              </a:ext>
            </a:extLst>
          </p:cNvPr>
          <p:cNvSpPr/>
          <p:nvPr/>
        </p:nvSpPr>
        <p:spPr>
          <a:xfrm>
            <a:off x="475488" y="4014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Kafka Cluster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039EC62-400A-A2A7-03F3-9366BFA021D9}"/>
              </a:ext>
            </a:extLst>
          </p:cNvPr>
          <p:cNvSpPr/>
          <p:nvPr/>
        </p:nvSpPr>
        <p:spPr>
          <a:xfrm>
            <a:off x="3182112" y="4014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1F6DE26-AA1F-4796-E406-8BBF7B90054E}"/>
              </a:ext>
            </a:extLst>
          </p:cNvPr>
          <p:cNvSpPr/>
          <p:nvPr/>
        </p:nvSpPr>
        <p:spPr>
          <a:xfrm>
            <a:off x="3602736" y="4014216"/>
            <a:ext cx="2651760" cy="292608"/>
          </a:xfrm>
          <a:prstGeom prst="roundRect">
            <a:avLst>
              <a:gd name="adj" fmla="val 15625"/>
            </a:avLst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CEC4343-E643-B0F9-D53C-E083FF90CB08}"/>
              </a:ext>
            </a:extLst>
          </p:cNvPr>
          <p:cNvSpPr/>
          <p:nvPr/>
        </p:nvSpPr>
        <p:spPr>
          <a:xfrm>
            <a:off x="3602736" y="4014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AI Infrastructure</a:t>
            </a:r>
            <a:endParaRPr lang="en-US" sz="11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5962476-1B88-34ED-D7C1-ABBD3925BBF0}"/>
              </a:ext>
            </a:extLst>
          </p:cNvPr>
          <p:cNvSpPr/>
          <p:nvPr/>
        </p:nvSpPr>
        <p:spPr>
          <a:xfrm>
            <a:off x="6400800" y="3959352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that detect, reason, and remediate apply universally — across databases, APIs, microservices, and the AI agents themselves.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4999009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DDDB4-D709-40E1-C86C-18FCAE06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494FA7-2C08-FE9D-7E42-2B5E729F4E91}"/>
              </a:ext>
            </a:extLst>
          </p:cNvPr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VISION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6823F5-3E78-1D8A-6A74-99C9D89B1EB4}"/>
              </a:ext>
            </a:extLst>
          </p:cNvPr>
          <p:cNvSpPr/>
          <p:nvPr/>
        </p:nvSpPr>
        <p:spPr>
          <a:xfrm>
            <a:off x="320040" y="342900"/>
            <a:ext cx="8561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Confluent -  Realtime Data Engine for Agents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7D297D-C93E-E27F-94BD-0AC429545130}"/>
              </a:ext>
            </a:extLst>
          </p:cNvPr>
          <p:cNvSpPr/>
          <p:nvPr/>
        </p:nvSpPr>
        <p:spPr>
          <a:xfrm>
            <a:off x="411480" y="88696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IBM enterprise application becomes a real-time data source. Every AI agent decision is governed, audited, and fed back as a learning event.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8A70E8A-B5C4-F43D-5ACB-F7911D67A729}"/>
              </a:ext>
            </a:extLst>
          </p:cNvPr>
          <p:cNvSpPr/>
          <p:nvPr/>
        </p:nvSpPr>
        <p:spPr>
          <a:xfrm>
            <a:off x="320040" y="129844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3E3E38-ECD6-F5D1-6AC2-2929F9AE7539}"/>
              </a:ext>
            </a:extLst>
          </p:cNvPr>
          <p:cNvSpPr/>
          <p:nvPr/>
        </p:nvSpPr>
        <p:spPr>
          <a:xfrm>
            <a:off x="411480" y="1417320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8EF5598-DB36-1C42-B5C6-59EEA35B8A33}"/>
              </a:ext>
            </a:extLst>
          </p:cNvPr>
          <p:cNvSpPr/>
          <p:nvPr/>
        </p:nvSpPr>
        <p:spPr>
          <a:xfrm>
            <a:off x="411480" y="1417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DA5ED2E-D22C-9BFE-2502-0A5534279AB1}"/>
              </a:ext>
            </a:extLst>
          </p:cNvPr>
          <p:cNvSpPr/>
          <p:nvPr/>
        </p:nvSpPr>
        <p:spPr>
          <a:xfrm>
            <a:off x="475488" y="1828800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E89930-D7F3-B324-AE49-861C3C52DB2B}"/>
              </a:ext>
            </a:extLst>
          </p:cNvPr>
          <p:cNvSpPr/>
          <p:nvPr/>
        </p:nvSpPr>
        <p:spPr>
          <a:xfrm>
            <a:off x="694944" y="180136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Mainframe events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AD01410-B67A-9A58-9929-BEE484262812}"/>
              </a:ext>
            </a:extLst>
          </p:cNvPr>
          <p:cNvSpPr/>
          <p:nvPr/>
        </p:nvSpPr>
        <p:spPr>
          <a:xfrm>
            <a:off x="475488" y="2249424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5E6569D-DB64-D4C6-AAA2-85116371BB4B}"/>
              </a:ext>
            </a:extLst>
          </p:cNvPr>
          <p:cNvSpPr/>
          <p:nvPr/>
        </p:nvSpPr>
        <p:spPr>
          <a:xfrm>
            <a:off x="694944" y="222199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/ SAP transactions</a:t>
            </a:r>
            <a:endParaRPr lang="en-US" sz="10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A1F06E5-0169-856A-31EF-915E6BA06B27}"/>
              </a:ext>
            </a:extLst>
          </p:cNvPr>
          <p:cNvSpPr/>
          <p:nvPr/>
        </p:nvSpPr>
        <p:spPr>
          <a:xfrm>
            <a:off x="475488" y="2670048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8BBCE3-80B1-DDD9-78EA-B1A6E20973B7}"/>
              </a:ext>
            </a:extLst>
          </p:cNvPr>
          <p:cNvSpPr/>
          <p:nvPr/>
        </p:nvSpPr>
        <p:spPr>
          <a:xfrm>
            <a:off x="694944" y="264261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ops telemetry</a:t>
            </a:r>
            <a:endParaRPr lang="en-US" sz="10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3B26CDD-A74B-C97C-EE87-4C0820A0EF57}"/>
              </a:ext>
            </a:extLst>
          </p:cNvPr>
          <p:cNvSpPr/>
          <p:nvPr/>
        </p:nvSpPr>
        <p:spPr>
          <a:xfrm>
            <a:off x="475488" y="3090672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273552E-CA5E-8849-C206-CB37F67E0F26}"/>
              </a:ext>
            </a:extLst>
          </p:cNvPr>
          <p:cNvSpPr/>
          <p:nvPr/>
        </p:nvSpPr>
        <p:spPr>
          <a:xfrm>
            <a:off x="694944" y="30632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interactions</a:t>
            </a:r>
            <a:endParaRPr lang="en-US" sz="10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F521778-484C-E42F-63CD-322B7435DC50}"/>
              </a:ext>
            </a:extLst>
          </p:cNvPr>
          <p:cNvSpPr/>
          <p:nvPr/>
        </p:nvSpPr>
        <p:spPr>
          <a:xfrm>
            <a:off x="475488" y="3511296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D64418-A720-D852-77F5-EF93DF55DAEA}"/>
              </a:ext>
            </a:extLst>
          </p:cNvPr>
          <p:cNvSpPr/>
          <p:nvPr/>
        </p:nvSpPr>
        <p:spPr>
          <a:xfrm>
            <a:off x="694944" y="3483864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/ sensor feeds</a:t>
            </a:r>
            <a:endParaRPr lang="en-US" sz="10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5C696FC-48D8-1766-5FA8-23CDAAEDCE55}"/>
              </a:ext>
            </a:extLst>
          </p:cNvPr>
          <p:cNvSpPr/>
          <p:nvPr/>
        </p:nvSpPr>
        <p:spPr>
          <a:xfrm>
            <a:off x="475488" y="3931920"/>
            <a:ext cx="146304" cy="14630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3C6F15-82F3-6AAF-3EF0-24A5BDCB9FC3}"/>
              </a:ext>
            </a:extLst>
          </p:cNvPr>
          <p:cNvSpPr/>
          <p:nvPr/>
        </p:nvSpPr>
        <p:spPr>
          <a:xfrm>
            <a:off x="694944" y="390448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ledger streams</a:t>
            </a:r>
            <a:endParaRPr lang="en-US" sz="10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AF7464A-CAE8-3119-5966-7DD85095A6CF}"/>
              </a:ext>
            </a:extLst>
          </p:cNvPr>
          <p:cNvSpPr/>
          <p:nvPr/>
        </p:nvSpPr>
        <p:spPr>
          <a:xfrm>
            <a:off x="3063240" y="1298448"/>
            <a:ext cx="3017520" cy="3566160"/>
          </a:xfrm>
          <a:prstGeom prst="roundRect">
            <a:avLst>
              <a:gd name="adj" fmla="val 3030"/>
            </a:avLst>
          </a:prstGeom>
          <a:solidFill>
            <a:srgbClr val="1B3A6B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88C031F-B5C3-6CB7-5878-9C92C3B4279C}"/>
              </a:ext>
            </a:extLst>
          </p:cNvPr>
          <p:cNvSpPr/>
          <p:nvPr/>
        </p:nvSpPr>
        <p:spPr>
          <a:xfrm>
            <a:off x="3154680" y="1417320"/>
            <a:ext cx="2834640" cy="310896"/>
          </a:xfrm>
          <a:prstGeom prst="roundRect">
            <a:avLst>
              <a:gd name="adj" fmla="val 17647"/>
            </a:avLst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115B539-C2B0-1E5C-D539-834A2115B01C}"/>
              </a:ext>
            </a:extLst>
          </p:cNvPr>
          <p:cNvSpPr/>
          <p:nvPr/>
        </p:nvSpPr>
        <p:spPr>
          <a:xfrm>
            <a:off x="3154680" y="1417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PLATFORM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50A985E-A2E2-E557-561B-9443CB97BAFC}"/>
              </a:ext>
            </a:extLst>
          </p:cNvPr>
          <p:cNvSpPr/>
          <p:nvPr/>
        </p:nvSpPr>
        <p:spPr>
          <a:xfrm>
            <a:off x="3182112" y="1828800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4C65AE0-1D88-6685-F24F-D8DB166B09CB}"/>
              </a:ext>
            </a:extLst>
          </p:cNvPr>
          <p:cNvSpPr/>
          <p:nvPr/>
        </p:nvSpPr>
        <p:spPr>
          <a:xfrm>
            <a:off x="3255264" y="18653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Ingestion</a:t>
            </a:r>
            <a:endParaRPr lang="en-US" sz="10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8876781-EA40-70D9-EB7D-359DD1B74B37}"/>
              </a:ext>
            </a:extLst>
          </p:cNvPr>
          <p:cNvSpPr/>
          <p:nvPr/>
        </p:nvSpPr>
        <p:spPr>
          <a:xfrm>
            <a:off x="4864608" y="1865376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KRaft · 3 brokers · RF=3</a:t>
            </a:r>
            <a:endParaRPr lang="en-US" sz="9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DEAC123-2C71-9A4D-35C0-C22574861A32}"/>
              </a:ext>
            </a:extLst>
          </p:cNvPr>
          <p:cNvSpPr/>
          <p:nvPr/>
        </p:nvSpPr>
        <p:spPr>
          <a:xfrm>
            <a:off x="3182112" y="2249424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55B5F3C-0793-EE45-0184-5D1CEF810839}"/>
              </a:ext>
            </a:extLst>
          </p:cNvPr>
          <p:cNvSpPr/>
          <p:nvPr/>
        </p:nvSpPr>
        <p:spPr>
          <a:xfrm>
            <a:off x="3255264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Context Streaming</a:t>
            </a:r>
            <a:endParaRPr lang="en-US" sz="10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C3AE069-A4FF-6C8A-8C79-9694CC60EFED}"/>
              </a:ext>
            </a:extLst>
          </p:cNvPr>
          <p:cNvSpPr/>
          <p:nvPr/>
        </p:nvSpPr>
        <p:spPr>
          <a:xfrm>
            <a:off x="4864608" y="2286000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facts to agent windows</a:t>
            </a:r>
            <a:endParaRPr lang="en-US" sz="9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D69B5C7-F203-DC95-C795-920760CC30DC}"/>
              </a:ext>
            </a:extLst>
          </p:cNvPr>
          <p:cNvSpPr/>
          <p:nvPr/>
        </p:nvSpPr>
        <p:spPr>
          <a:xfrm>
            <a:off x="3182112" y="2670048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B2B4B49-43A1-6BB8-306F-C20E26DE3AC6}"/>
              </a:ext>
            </a:extLst>
          </p:cNvPr>
          <p:cNvSpPr/>
          <p:nvPr/>
        </p:nvSpPr>
        <p:spPr>
          <a:xfrm>
            <a:off x="3255264" y="270662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Audit Topic</a:t>
            </a:r>
            <a:endParaRPr lang="en-US" sz="10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31153C0D-3631-632F-9F9F-F0F7BEC39A84}"/>
              </a:ext>
            </a:extLst>
          </p:cNvPr>
          <p:cNvSpPr/>
          <p:nvPr/>
        </p:nvSpPr>
        <p:spPr>
          <a:xfrm>
            <a:off x="4864608" y="2706624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365-day compliance log</a:t>
            </a:r>
            <a:endParaRPr lang="en-US" sz="9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E7CE913-3B3B-4065-EA86-94397990C477}"/>
              </a:ext>
            </a:extLst>
          </p:cNvPr>
          <p:cNvSpPr/>
          <p:nvPr/>
        </p:nvSpPr>
        <p:spPr>
          <a:xfrm>
            <a:off x="3182112" y="3090672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B9F1E22-4CE8-8C8B-B15B-72538C39CAEE}"/>
              </a:ext>
            </a:extLst>
          </p:cNvPr>
          <p:cNvSpPr/>
          <p:nvPr/>
        </p:nvSpPr>
        <p:spPr>
          <a:xfrm>
            <a:off x="3255264" y="31272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Gate Events</a:t>
            </a:r>
            <a:endParaRPr lang="en-US" sz="10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EA09B3B-F82D-076B-E4A6-E1607DFAA360}"/>
              </a:ext>
            </a:extLst>
          </p:cNvPr>
          <p:cNvSpPr/>
          <p:nvPr/>
        </p:nvSpPr>
        <p:spPr>
          <a:xfrm>
            <a:off x="4864608" y="3127248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recorded</a:t>
            </a:r>
            <a:endParaRPr lang="en-US" sz="9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66B0FFF9-5128-632C-10A7-5E8B59A93F98}"/>
              </a:ext>
            </a:extLst>
          </p:cNvPr>
          <p:cNvSpPr/>
          <p:nvPr/>
        </p:nvSpPr>
        <p:spPr>
          <a:xfrm>
            <a:off x="3182112" y="3511296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7F713918-B3D7-40B7-6CD2-A935BEE69E51}"/>
              </a:ext>
            </a:extLst>
          </p:cNvPr>
          <p:cNvSpPr/>
          <p:nvPr/>
        </p:nvSpPr>
        <p:spPr>
          <a:xfrm>
            <a:off x="3255264" y="354787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Topic (compact)</a:t>
            </a:r>
            <a:endParaRPr lang="en-US" sz="10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4A3B9CCC-DDA4-544A-35CB-DE2AAE694D42}"/>
              </a:ext>
            </a:extLst>
          </p:cNvPr>
          <p:cNvSpPr/>
          <p:nvPr/>
        </p:nvSpPr>
        <p:spPr>
          <a:xfrm>
            <a:off x="4864608" y="3547872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knowledge base</a:t>
            </a:r>
            <a:endParaRPr lang="en-US" sz="9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70F1E54-6BF4-F070-F452-5B68A082B641}"/>
              </a:ext>
            </a:extLst>
          </p:cNvPr>
          <p:cNvSpPr/>
          <p:nvPr/>
        </p:nvSpPr>
        <p:spPr>
          <a:xfrm>
            <a:off x="3182112" y="3931920"/>
            <a:ext cx="2779776" cy="347472"/>
          </a:xfrm>
          <a:prstGeom prst="roundRect">
            <a:avLst>
              <a:gd name="adj" fmla="val 13158"/>
            </a:avLst>
          </a:prstGeom>
          <a:solidFill>
            <a:srgbClr val="1E3454"/>
          </a:solidFill>
          <a:ln w="508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FB8A9A4-E0F5-FB71-EF1A-3791763AE19B}"/>
              </a:ext>
            </a:extLst>
          </p:cNvPr>
          <p:cNvSpPr/>
          <p:nvPr/>
        </p:nvSpPr>
        <p:spPr>
          <a:xfrm>
            <a:off x="3255264" y="396849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Registry</a:t>
            </a:r>
            <a:endParaRPr lang="en-US" sz="10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62D1833-0C64-321F-669A-AC6E9D526940}"/>
              </a:ext>
            </a:extLst>
          </p:cNvPr>
          <p:cNvSpPr/>
          <p:nvPr/>
        </p:nvSpPr>
        <p:spPr>
          <a:xfrm>
            <a:off x="4864608" y="3968496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Contract-driven pipelines</a:t>
            </a:r>
            <a:endParaRPr lang="en-US" sz="9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E86AA70-101E-732E-B42D-1150402BFA2C}"/>
              </a:ext>
            </a:extLst>
          </p:cNvPr>
          <p:cNvSpPr/>
          <p:nvPr/>
        </p:nvSpPr>
        <p:spPr>
          <a:xfrm>
            <a:off x="6263640" y="1298448"/>
            <a:ext cx="2560320" cy="3566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9F75D745-46AC-D8AC-05FC-661A098C2D41}"/>
              </a:ext>
            </a:extLst>
          </p:cNvPr>
          <p:cNvSpPr/>
          <p:nvPr/>
        </p:nvSpPr>
        <p:spPr>
          <a:xfrm>
            <a:off x="6355080" y="1417320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15ABEA5D-42E0-8DAC-1F3B-2C44E6BCC0CE}"/>
              </a:ext>
            </a:extLst>
          </p:cNvPr>
          <p:cNvSpPr/>
          <p:nvPr/>
        </p:nvSpPr>
        <p:spPr>
          <a:xfrm>
            <a:off x="6355080" y="1417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APPS</a:t>
            </a:r>
            <a:endParaRPr lang="en-US" sz="10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172029DB-936B-696D-60CA-8285A848D366}"/>
              </a:ext>
            </a:extLst>
          </p:cNvPr>
          <p:cNvSpPr/>
          <p:nvPr/>
        </p:nvSpPr>
        <p:spPr>
          <a:xfrm>
            <a:off x="6419088" y="1828800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12E4AACA-7F21-796E-C0AE-AE2BF4DA2F1A}"/>
              </a:ext>
            </a:extLst>
          </p:cNvPr>
          <p:cNvSpPr/>
          <p:nvPr/>
        </p:nvSpPr>
        <p:spPr>
          <a:xfrm>
            <a:off x="6638544" y="180136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 agents</a:t>
            </a:r>
            <a:endParaRPr lang="en-US" sz="105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0BEE69CA-4FC1-8963-5890-16C2EA09B2C3}"/>
              </a:ext>
            </a:extLst>
          </p:cNvPr>
          <p:cNvSpPr/>
          <p:nvPr/>
        </p:nvSpPr>
        <p:spPr>
          <a:xfrm>
            <a:off x="6419088" y="2249424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C76E93E8-B1AD-7B0F-2B92-1974B99B1CD4}"/>
              </a:ext>
            </a:extLst>
          </p:cNvPr>
          <p:cNvSpPr/>
          <p:nvPr/>
        </p:nvSpPr>
        <p:spPr>
          <a:xfrm>
            <a:off x="6638544" y="222199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 self-heal agents</a:t>
            </a:r>
            <a:endParaRPr lang="en-US" sz="1050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7571B1F2-53F4-1C68-8E26-6A1AAF171949}"/>
              </a:ext>
            </a:extLst>
          </p:cNvPr>
          <p:cNvSpPr/>
          <p:nvPr/>
        </p:nvSpPr>
        <p:spPr>
          <a:xfrm>
            <a:off x="6419088" y="2670048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AB91000B-19B6-9AFE-88FB-BA91778776A2}"/>
              </a:ext>
            </a:extLst>
          </p:cNvPr>
          <p:cNvSpPr/>
          <p:nvPr/>
        </p:nvSpPr>
        <p:spPr>
          <a:xfrm>
            <a:off x="6638544" y="264261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detection agents</a:t>
            </a:r>
            <a:endParaRPr lang="en-US" sz="105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1EB0C0F2-3D56-5F64-5DE5-838D1B3F3632}"/>
              </a:ext>
            </a:extLst>
          </p:cNvPr>
          <p:cNvSpPr/>
          <p:nvPr/>
        </p:nvSpPr>
        <p:spPr>
          <a:xfrm>
            <a:off x="6419088" y="309067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23D6D247-836D-CB73-0734-9664F3F61822}"/>
              </a:ext>
            </a:extLst>
          </p:cNvPr>
          <p:cNvSpPr/>
          <p:nvPr/>
        </p:nvSpPr>
        <p:spPr>
          <a:xfrm>
            <a:off x="6638544" y="30632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agents</a:t>
            </a:r>
            <a:endParaRPr lang="en-US" sz="105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BA4828C8-2765-ABE1-5FA9-BC64E1B6661F}"/>
              </a:ext>
            </a:extLst>
          </p:cNvPr>
          <p:cNvSpPr/>
          <p:nvPr/>
        </p:nvSpPr>
        <p:spPr>
          <a:xfrm>
            <a:off x="6419088" y="3511296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F0DD5327-B788-69F2-D85D-3941DF97EDB5}"/>
              </a:ext>
            </a:extLst>
          </p:cNvPr>
          <p:cNvSpPr/>
          <p:nvPr/>
        </p:nvSpPr>
        <p:spPr>
          <a:xfrm>
            <a:off x="6638544" y="3483864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service AI</a:t>
            </a:r>
            <a:endParaRPr lang="en-US" sz="105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1993EB3C-26CA-DE07-E660-79CEDBC83F1B}"/>
              </a:ext>
            </a:extLst>
          </p:cNvPr>
          <p:cNvSpPr/>
          <p:nvPr/>
        </p:nvSpPr>
        <p:spPr>
          <a:xfrm>
            <a:off x="6419088" y="3931920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22E88F55-0B4A-3819-6DD4-64EC13FFC675}"/>
              </a:ext>
            </a:extLst>
          </p:cNvPr>
          <p:cNvSpPr/>
          <p:nvPr/>
        </p:nvSpPr>
        <p:spPr>
          <a:xfrm>
            <a:off x="6638544" y="3904488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audit AI</a:t>
            </a:r>
            <a:endParaRPr lang="en-US" sz="105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A7115DF0-8EC1-F4E2-9A4F-95157F1AA7D7}"/>
              </a:ext>
            </a:extLst>
          </p:cNvPr>
          <p:cNvSpPr/>
          <p:nvPr/>
        </p:nvSpPr>
        <p:spPr>
          <a:xfrm>
            <a:off x="2880360" y="28346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3E028C2C-2D5D-B6D3-133C-7C65369B9FF9}"/>
              </a:ext>
            </a:extLst>
          </p:cNvPr>
          <p:cNvSpPr/>
          <p:nvPr/>
        </p:nvSpPr>
        <p:spPr>
          <a:xfrm>
            <a:off x="6080760" y="28346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20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15C8A3EA-D09F-E4F1-3D61-F036B23D18ED}"/>
              </a:ext>
            </a:extLst>
          </p:cNvPr>
          <p:cNvSpPr/>
          <p:nvPr/>
        </p:nvSpPr>
        <p:spPr>
          <a:xfrm>
            <a:off x="320040" y="4892040"/>
            <a:ext cx="850392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917C6D4D-2D8A-7E49-311A-A28C359B9887}"/>
              </a:ext>
            </a:extLst>
          </p:cNvPr>
          <p:cNvSpPr/>
          <p:nvPr/>
        </p:nvSpPr>
        <p:spPr>
          <a:xfrm>
            <a:off x="457200" y="49194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becomes the nervous system — data flows in, agents reason, decisions are gated, outcomes feed back as learning events.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1839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AA1E9-DA81-983C-0ABF-36DC6931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636B1C-693A-6256-C58B-769F5260A1BA}"/>
              </a:ext>
            </a:extLst>
          </p:cNvPr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OPPORTUNITY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9F5DD7-990F-7CF7-ED6B-F4F00856EE7D}"/>
              </a:ext>
            </a:extLst>
          </p:cNvPr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get from this POC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730F5C-74EF-C84E-497D-EEDC742203A2}"/>
              </a:ext>
            </a:extLst>
          </p:cNvPr>
          <p:cNvSpPr/>
          <p:nvPr/>
        </p:nvSpPr>
        <p:spPr>
          <a:xfrm>
            <a:off x="411480" y="88696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capabilities that enterprise AI deployments consistently lack — all demonstrated in this POC.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DE5E038-F17D-5381-11C0-7622E0CB1043}"/>
              </a:ext>
            </a:extLst>
          </p:cNvPr>
          <p:cNvSpPr/>
          <p:nvPr/>
        </p:nvSpPr>
        <p:spPr>
          <a:xfrm>
            <a:off x="347472" y="1298448"/>
            <a:ext cx="8449056" cy="1097280"/>
          </a:xfrm>
          <a:prstGeom prst="roundRect">
            <a:avLst>
              <a:gd name="adj" fmla="val 8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B967158-89D1-AC2D-4528-56956AFA6296}"/>
              </a:ext>
            </a:extLst>
          </p:cNvPr>
          <p:cNvSpPr/>
          <p:nvPr/>
        </p:nvSpPr>
        <p:spPr>
          <a:xfrm>
            <a:off x="475488" y="1426464"/>
            <a:ext cx="530352" cy="53035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F11C41-5477-DEBE-EE86-04CC53974AD7}"/>
              </a:ext>
            </a:extLst>
          </p:cNvPr>
          <p:cNvSpPr/>
          <p:nvPr/>
        </p:nvSpPr>
        <p:spPr>
          <a:xfrm>
            <a:off x="475488" y="14264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3C3C4E3-BB88-12E7-C10C-27E34C533333}"/>
              </a:ext>
            </a:extLst>
          </p:cNvPr>
          <p:cNvSpPr/>
          <p:nvPr/>
        </p:nvSpPr>
        <p:spPr>
          <a:xfrm>
            <a:off x="1115568" y="142646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Grounding for AI Agents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6DE320-253D-81A8-1682-985FA909C403}"/>
              </a:ext>
            </a:extLst>
          </p:cNvPr>
          <p:cNvSpPr/>
          <p:nvPr/>
        </p:nvSpPr>
        <p:spPr>
          <a:xfrm>
            <a:off x="1115568" y="17190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enterprise AI runs on stale batch data. Confluent streams live facts — inventory levels, transaction states, system telemetry — directly into agent reasoning loops as they happen. Agents make decisions on current reality, not yesterday's snapshot.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24C65A7-10AE-D2F0-02EB-855990064FC1}"/>
              </a:ext>
            </a:extLst>
          </p:cNvPr>
          <p:cNvSpPr/>
          <p:nvPr/>
        </p:nvSpPr>
        <p:spPr>
          <a:xfrm>
            <a:off x="6263640" y="1572768"/>
            <a:ext cx="2423160" cy="548640"/>
          </a:xfrm>
          <a:prstGeom prst="roundRect">
            <a:avLst>
              <a:gd name="adj" fmla="val 11667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AF6C54-134C-63C9-DD8D-79F1DA290B9D}"/>
              </a:ext>
            </a:extLst>
          </p:cNvPr>
          <p:cNvSpPr/>
          <p:nvPr/>
        </p:nvSpPr>
        <p:spPr>
          <a:xfrm>
            <a:off x="6327648" y="1591056"/>
            <a:ext cx="23042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to: watsonx, AIOps, IBM Financial Services AI</a:t>
            </a:r>
            <a:endParaRPr lang="en-US" sz="9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6B98C1E-6EFB-B684-F32B-FC93989F4104}"/>
              </a:ext>
            </a:extLst>
          </p:cNvPr>
          <p:cNvSpPr/>
          <p:nvPr/>
        </p:nvSpPr>
        <p:spPr>
          <a:xfrm>
            <a:off x="347472" y="2532888"/>
            <a:ext cx="8449056" cy="1097280"/>
          </a:xfrm>
          <a:prstGeom prst="roundRect">
            <a:avLst>
              <a:gd name="adj" fmla="val 8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B406460-0C37-9434-A37E-96384C349088}"/>
              </a:ext>
            </a:extLst>
          </p:cNvPr>
          <p:cNvSpPr/>
          <p:nvPr/>
        </p:nvSpPr>
        <p:spPr>
          <a:xfrm>
            <a:off x="475488" y="2660904"/>
            <a:ext cx="530352" cy="53035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70A31D7-95BD-BF09-98A9-8693237B58C2}"/>
              </a:ext>
            </a:extLst>
          </p:cNvPr>
          <p:cNvSpPr/>
          <p:nvPr/>
        </p:nvSpPr>
        <p:spPr>
          <a:xfrm>
            <a:off x="475488" y="26609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1C241C9-1048-A4FC-347A-2D883DB917A9}"/>
              </a:ext>
            </a:extLst>
          </p:cNvPr>
          <p:cNvSpPr/>
          <p:nvPr/>
        </p:nvSpPr>
        <p:spPr>
          <a:xfrm>
            <a:off x="1115568" y="266090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Governed, Auditable AI Actions</a:t>
            </a:r>
            <a:endParaRPr lang="en-US" sz="14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FC67D9D-AC62-8460-BAED-268EB7BD2663}"/>
              </a:ext>
            </a:extLst>
          </p:cNvPr>
          <p:cNvSpPr/>
          <p:nvPr/>
        </p:nvSpPr>
        <p:spPr>
          <a:xfrm>
            <a:off x="1115568" y="295351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policy gate pattern — where every consequential AI action requires explicit operator approval and is written to an immutable audit topic — addresses the compliance gap in enterprise AI deployments. Every decision has an actor, a timestamp, and a rationale on the record.</a:t>
            </a:r>
            <a:endParaRPr lang="en-US" sz="105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27811B0-03C3-C80D-88E4-63F320FFD274}"/>
              </a:ext>
            </a:extLst>
          </p:cNvPr>
          <p:cNvSpPr/>
          <p:nvPr/>
        </p:nvSpPr>
        <p:spPr>
          <a:xfrm>
            <a:off x="6263640" y="2807208"/>
            <a:ext cx="2423160" cy="548640"/>
          </a:xfrm>
          <a:prstGeom prst="roundRect">
            <a:avLst>
              <a:gd name="adj" fmla="val 11667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7E10DA9-3132-3016-376C-C735870F4EBE}"/>
              </a:ext>
            </a:extLst>
          </p:cNvPr>
          <p:cNvSpPr/>
          <p:nvPr/>
        </p:nvSpPr>
        <p:spPr>
          <a:xfrm>
            <a:off x="6327648" y="2825496"/>
            <a:ext cx="23042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to: regulated industries, IBM Consulting AI delivery</a:t>
            </a:r>
            <a:endParaRPr lang="en-US" sz="9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C4E251D-9BB1-B63B-05B2-70EAD14DA4F1}"/>
              </a:ext>
            </a:extLst>
          </p:cNvPr>
          <p:cNvSpPr/>
          <p:nvPr/>
        </p:nvSpPr>
        <p:spPr>
          <a:xfrm>
            <a:off x="347472" y="3767328"/>
            <a:ext cx="8449056" cy="1097280"/>
          </a:xfrm>
          <a:prstGeom prst="roundRect">
            <a:avLst>
              <a:gd name="adj" fmla="val 8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EF0C23E-B19D-DFD1-496B-7087FA63484D}"/>
              </a:ext>
            </a:extLst>
          </p:cNvPr>
          <p:cNvSpPr/>
          <p:nvPr/>
        </p:nvSpPr>
        <p:spPr>
          <a:xfrm>
            <a:off x="475488" y="3895344"/>
            <a:ext cx="530352" cy="530352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1085EAE-CB22-DA51-146B-9DFACC9E73A4}"/>
              </a:ext>
            </a:extLst>
          </p:cNvPr>
          <p:cNvSpPr/>
          <p:nvPr/>
        </p:nvSpPr>
        <p:spPr>
          <a:xfrm>
            <a:off x="475488" y="38953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C781323-0AF1-7717-0084-1AAC5C17D134}"/>
              </a:ext>
            </a:extLst>
          </p:cNvPr>
          <p:cNvSpPr/>
          <p:nvPr/>
        </p:nvSpPr>
        <p:spPr>
          <a:xfrm>
            <a:off x="1115568" y="389534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Self-Improving AI Infrastructure</a:t>
            </a:r>
            <a:endParaRPr lang="en-US" sz="1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455C1B-1307-1DB7-7837-138AA3DF8DCC}"/>
              </a:ext>
            </a:extLst>
          </p:cNvPr>
          <p:cNvSpPr/>
          <p:nvPr/>
        </p:nvSpPr>
        <p:spPr>
          <a:xfrm>
            <a:off x="1115568" y="418795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compacted lessons topic creates a persistent, growing knowledge base that agents read on every cycle. IBM deployments could use the same pattern to accumulate domain-specific learnings from production incidents — without retraining models.</a:t>
            </a:r>
            <a:endParaRPr lang="en-US" sz="105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BFEFF6A-7070-D391-62E7-71627935DEE2}"/>
              </a:ext>
            </a:extLst>
          </p:cNvPr>
          <p:cNvSpPr/>
          <p:nvPr/>
        </p:nvSpPr>
        <p:spPr>
          <a:xfrm>
            <a:off x="6263640" y="4041648"/>
            <a:ext cx="2423160" cy="548640"/>
          </a:xfrm>
          <a:prstGeom prst="roundRect">
            <a:avLst>
              <a:gd name="adj" fmla="val 11667"/>
            </a:avLst>
          </a:prstGeom>
          <a:solidFill>
            <a:srgbClr val="1E3454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1B9B209-8BA3-66B1-0C77-319741616F6B}"/>
              </a:ext>
            </a:extLst>
          </p:cNvPr>
          <p:cNvSpPr/>
          <p:nvPr/>
        </p:nvSpPr>
        <p:spPr>
          <a:xfrm>
            <a:off x="6327648" y="4059936"/>
            <a:ext cx="230428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to: IBM SRE, enterprise IT automation, watsonx Orchestrate</a:t>
            </a:r>
            <a:endParaRPr lang="en-US" sz="9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390F0B-B3AF-731B-0A3C-8E37351F13AF}"/>
              </a:ext>
            </a:extLst>
          </p:cNvPr>
          <p:cNvSpPr/>
          <p:nvPr/>
        </p:nvSpPr>
        <p:spPr>
          <a:xfrm>
            <a:off x="347472" y="4809744"/>
            <a:ext cx="8449056" cy="347472"/>
          </a:xfrm>
          <a:prstGeom prst="roundRect">
            <a:avLst>
              <a:gd name="adj" fmla="val 21053"/>
            </a:avLst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6F65C1E-7CAC-0A2D-C4D9-49C4CBFCAEDD}"/>
              </a:ext>
            </a:extLst>
          </p:cNvPr>
          <p:cNvSpPr/>
          <p:nvPr/>
        </p:nvSpPr>
        <p:spPr>
          <a:xfrm>
            <a:off x="457200" y="48280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POC runs today at agent-mesh-sre.vercel.app  ·  Kafka cluster live on Civo  ·  Open for IBM evaluation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435131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BFD2D-9CD1-CCEA-0F39-421C463A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86141D-74E3-5EE3-F904-30095A33BABB}"/>
              </a:ext>
            </a:extLst>
          </p:cNvPr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558A5B1-9254-1575-9A28-C03572D43DE9}"/>
              </a:ext>
            </a:extLst>
          </p:cNvPr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AI Inflection Point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9E20D7-0D7D-A7DC-D78D-BAC218D787E5}"/>
              </a:ext>
            </a:extLst>
          </p:cNvPr>
          <p:cNvSpPr/>
          <p:nvPr/>
        </p:nvSpPr>
        <p:spPr>
          <a:xfrm>
            <a:off x="411480" y="88696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converging in 2025-26 make this the right moment for IBM to establish the Confluent-backed Agentic AI pattern.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4EE4210-D39D-B13E-DC44-38C8F3202732}"/>
              </a:ext>
            </a:extLst>
          </p:cNvPr>
          <p:cNvSpPr/>
          <p:nvPr/>
        </p:nvSpPr>
        <p:spPr>
          <a:xfrm>
            <a:off x="320040" y="1298448"/>
            <a:ext cx="2670048" cy="352044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17CE29E-7443-10B8-AEEB-435E87317851}"/>
              </a:ext>
            </a:extLst>
          </p:cNvPr>
          <p:cNvSpPr/>
          <p:nvPr/>
        </p:nvSpPr>
        <p:spPr>
          <a:xfrm>
            <a:off x="411480" y="1417320"/>
            <a:ext cx="2487168" cy="347472"/>
          </a:xfrm>
          <a:prstGeom prst="roundRect">
            <a:avLst>
              <a:gd name="adj" fmla="val 15789"/>
            </a:avLst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9329F7D-D8CB-5EB0-AF7D-569D6826343A}"/>
              </a:ext>
            </a:extLst>
          </p:cNvPr>
          <p:cNvSpPr/>
          <p:nvPr/>
        </p:nvSpPr>
        <p:spPr>
          <a:xfrm>
            <a:off x="411480" y="1417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AI is Production-Ready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F3B8AA6-5D8A-403A-FD58-C107495ACF74}"/>
              </a:ext>
            </a:extLst>
          </p:cNvPr>
          <p:cNvSpPr/>
          <p:nvPr/>
        </p:nvSpPr>
        <p:spPr>
          <a:xfrm>
            <a:off x="475488" y="1865376"/>
            <a:ext cx="23957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watsonx, Granite models, and AWS Bedrock have crossed the enterprise readiness threshold. The gap is no longer model capability — it is real-time grounding and governed execution.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AE42D11-CAF6-BEDE-754C-C630DD4BDC71}"/>
              </a:ext>
            </a:extLst>
          </p:cNvPr>
          <p:cNvSpPr/>
          <p:nvPr/>
        </p:nvSpPr>
        <p:spPr>
          <a:xfrm>
            <a:off x="411480" y="3401568"/>
            <a:ext cx="2487168" cy="1298448"/>
          </a:xfrm>
          <a:prstGeom prst="roundRect">
            <a:avLst>
              <a:gd name="adj" fmla="val 4225"/>
            </a:avLst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59F443D-3CDE-EF6F-AB5A-F66DCFF3DD81}"/>
              </a:ext>
            </a:extLst>
          </p:cNvPr>
          <p:cNvSpPr/>
          <p:nvPr/>
        </p:nvSpPr>
        <p:spPr>
          <a:xfrm>
            <a:off x="502920" y="3456432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POC adds:</a:t>
            </a:r>
            <a:endParaRPr lang="en-US" sz="9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D190601-B5C0-54E4-3029-DFC2352BCE82}"/>
              </a:ext>
            </a:extLst>
          </p:cNvPr>
          <p:cNvSpPr/>
          <p:nvPr/>
        </p:nvSpPr>
        <p:spPr>
          <a:xfrm>
            <a:off x="502920" y="3685032"/>
            <a:ext cx="23042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Kafka stream as the real-time fact layer for agents. No batch ETL. No stale context.</a:t>
            </a:r>
            <a:endParaRPr lang="en-US" sz="10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BB71E07-5C3B-3844-1FC8-69C13468614E}"/>
              </a:ext>
            </a:extLst>
          </p:cNvPr>
          <p:cNvSpPr/>
          <p:nvPr/>
        </p:nvSpPr>
        <p:spPr>
          <a:xfrm>
            <a:off x="3172968" y="1298448"/>
            <a:ext cx="2670048" cy="352044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B4BBF3A-CF1F-F979-9A03-3AA38B27D0E5}"/>
              </a:ext>
            </a:extLst>
          </p:cNvPr>
          <p:cNvSpPr/>
          <p:nvPr/>
        </p:nvSpPr>
        <p:spPr>
          <a:xfrm>
            <a:off x="3264408" y="1417320"/>
            <a:ext cx="2487168" cy="347472"/>
          </a:xfrm>
          <a:prstGeom prst="roundRect">
            <a:avLst>
              <a:gd name="adj" fmla="val 15789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8A19C57-340E-C686-81A4-678A1D189904}"/>
              </a:ext>
            </a:extLst>
          </p:cNvPr>
          <p:cNvSpPr/>
          <p:nvPr/>
        </p:nvSpPr>
        <p:spPr>
          <a:xfrm>
            <a:off x="3264408" y="1417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is the Bottleneck</a:t>
            </a:r>
            <a:endParaRPr lang="en-US" sz="11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D54C20C-C5F8-5A9A-4D7C-661A12C6D45F}"/>
              </a:ext>
            </a:extLst>
          </p:cNvPr>
          <p:cNvSpPr/>
          <p:nvPr/>
        </p:nvSpPr>
        <p:spPr>
          <a:xfrm>
            <a:off x="3328416" y="1865376"/>
            <a:ext cx="23957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industries — banking, healthcare, government — cannot deploy AI without audit trails and human override. This is the single biggest blocker to IBM AI consulting revenue.</a:t>
            </a: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DA7CCAC-83C9-B7B2-3896-452AA02F6A6C}"/>
              </a:ext>
            </a:extLst>
          </p:cNvPr>
          <p:cNvSpPr/>
          <p:nvPr/>
        </p:nvSpPr>
        <p:spPr>
          <a:xfrm>
            <a:off x="3264408" y="3401568"/>
            <a:ext cx="2487168" cy="1298448"/>
          </a:xfrm>
          <a:prstGeom prst="roundRect">
            <a:avLst>
              <a:gd name="adj" fmla="val 4225"/>
            </a:avLst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9A72161-7119-05F9-E475-DCD68B4FBF7F}"/>
              </a:ext>
            </a:extLst>
          </p:cNvPr>
          <p:cNvSpPr/>
          <p:nvPr/>
        </p:nvSpPr>
        <p:spPr>
          <a:xfrm>
            <a:off x="3355848" y="3456432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POC adds:</a:t>
            </a:r>
            <a:endParaRPr lang="en-US" sz="9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DDF3D3B-A348-13EC-D2C7-44B03336DBCD}"/>
              </a:ext>
            </a:extLst>
          </p:cNvPr>
          <p:cNvSpPr/>
          <p:nvPr/>
        </p:nvSpPr>
        <p:spPr>
          <a:xfrm>
            <a:off x="3355848" y="3685032"/>
            <a:ext cx="23042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gate pattern + 365-day immutable audit topic. Every AI decision has an actor, timestamp, and rationale. Built-in compliance.</a:t>
            </a:r>
            <a:endParaRPr lang="en-US" sz="10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AEE513F-5F54-6846-BADA-7612F022D62D}"/>
              </a:ext>
            </a:extLst>
          </p:cNvPr>
          <p:cNvSpPr/>
          <p:nvPr/>
        </p:nvSpPr>
        <p:spPr>
          <a:xfrm>
            <a:off x="6016752" y="1298448"/>
            <a:ext cx="2670048" cy="3520440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6D1E5D9-17FD-6BCB-4031-786B7823E050}"/>
              </a:ext>
            </a:extLst>
          </p:cNvPr>
          <p:cNvSpPr/>
          <p:nvPr/>
        </p:nvSpPr>
        <p:spPr>
          <a:xfrm>
            <a:off x="6108192" y="1417320"/>
            <a:ext cx="2487168" cy="347472"/>
          </a:xfrm>
          <a:prstGeom prst="roundRect">
            <a:avLst>
              <a:gd name="adj" fmla="val 15789"/>
            </a:avLst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278EBB8-AB31-8EA7-70FE-39488F7BF647}"/>
              </a:ext>
            </a:extLst>
          </p:cNvPr>
          <p:cNvSpPr/>
          <p:nvPr/>
        </p:nvSpPr>
        <p:spPr>
          <a:xfrm>
            <a:off x="6108192" y="141732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is Already Everywhere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3431721-8E06-EF96-56CF-7A780C3DA6A7}"/>
              </a:ext>
            </a:extLst>
          </p:cNvPr>
          <p:cNvSpPr/>
          <p:nvPr/>
        </p:nvSpPr>
        <p:spPr>
          <a:xfrm>
            <a:off x="6172200" y="1865376"/>
            <a:ext cx="23957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IBM's largest enterprise customers already run Confluent or IBM Event Streams. The streaming backbone exists. It just isn't connected to the AI layer yet.</a:t>
            </a: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AC34BEA-E5D4-5C40-002B-90D77F20597A}"/>
              </a:ext>
            </a:extLst>
          </p:cNvPr>
          <p:cNvSpPr/>
          <p:nvPr/>
        </p:nvSpPr>
        <p:spPr>
          <a:xfrm>
            <a:off x="6108192" y="3401568"/>
            <a:ext cx="2487168" cy="1298448"/>
          </a:xfrm>
          <a:prstGeom prst="roundRect">
            <a:avLst>
              <a:gd name="adj" fmla="val 4225"/>
            </a:avLst>
          </a:prstGeom>
          <a:solidFill>
            <a:srgbClr val="EFF6FF"/>
          </a:solidFill>
          <a:ln w="635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10F1BFD-607B-CCFD-DC48-8620BD575D87}"/>
              </a:ext>
            </a:extLst>
          </p:cNvPr>
          <p:cNvSpPr/>
          <p:nvPr/>
        </p:nvSpPr>
        <p:spPr>
          <a:xfrm>
            <a:off x="6199632" y="3456432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POC adds:</a:t>
            </a:r>
            <a:endParaRPr lang="en-US" sz="9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734A954-EEB8-4D64-5EFE-5942B994B115}"/>
              </a:ext>
            </a:extLst>
          </p:cNvPr>
          <p:cNvSpPr/>
          <p:nvPr/>
        </p:nvSpPr>
        <p:spPr>
          <a:xfrm>
            <a:off x="6199632" y="3685032"/>
            <a:ext cx="230428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reference architecture that bridges Kafka topics to AI agent workflows — deployable on any IBM client's existing Confluent cluster.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27517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42823B-4A0B-0B56-3489-4BE4D507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F013D4-A8F3-7453-710E-2CB664A11A49}"/>
              </a:ext>
            </a:extLst>
          </p:cNvPr>
          <p:cNvSpPr/>
          <p:nvPr/>
        </p:nvSpPr>
        <p:spPr>
          <a:xfrm>
            <a:off x="8046720" y="0"/>
            <a:ext cx="1280160" cy="5143500"/>
          </a:xfrm>
          <a:prstGeom prst="rect">
            <a:avLst/>
          </a:prstGeom>
          <a:solidFill>
            <a:srgbClr val="2563A8">
              <a:alpha val="20000"/>
            </a:srgbClr>
          </a:solidFill>
          <a:ln w="12700">
            <a:solidFill>
              <a:srgbClr val="2563A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A2B9ED7-A37A-9FB9-A9BD-BAAE455030DB}"/>
              </a:ext>
            </a:extLst>
          </p:cNvPr>
          <p:cNvSpPr/>
          <p:nvPr/>
        </p:nvSpPr>
        <p:spPr>
          <a:xfrm>
            <a:off x="411480" y="2743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5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IBMer 2026 Bobathon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147A4-DA75-1B44-FC52-553D7522FD4A}"/>
              </a:ext>
            </a:extLst>
          </p:cNvPr>
          <p:cNvSpPr/>
          <p:nvPr/>
        </p:nvSpPr>
        <p:spPr>
          <a:xfrm>
            <a:off x="411480" y="59436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Mesh SRE</a:t>
            </a:r>
            <a:endParaRPr lang="en-US" sz="4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BD95E1C-3D0D-EA59-3071-D038BE2FDC8E}"/>
              </a:ext>
            </a:extLst>
          </p:cNvPr>
          <p:cNvSpPr/>
          <p:nvPr/>
        </p:nvSpPr>
        <p:spPr>
          <a:xfrm>
            <a:off x="411480" y="129844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as the Agentic AI Backbone for IBM</a:t>
            </a:r>
            <a:endParaRPr lang="en-US" sz="1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78DF289-98DD-27DE-9600-DA71A789EB16}"/>
              </a:ext>
            </a:extLst>
          </p:cNvPr>
          <p:cNvSpPr/>
          <p:nvPr/>
        </p:nvSpPr>
        <p:spPr>
          <a:xfrm>
            <a:off x="411480" y="1755648"/>
            <a:ext cx="3657600" cy="0"/>
          </a:xfrm>
          <a:prstGeom prst="line">
            <a:avLst/>
          </a:prstGeom>
          <a:noFill/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3172C9C-7D87-94F3-A981-BE38F6EC368B}"/>
              </a:ext>
            </a:extLst>
          </p:cNvPr>
          <p:cNvSpPr/>
          <p:nvPr/>
        </p:nvSpPr>
        <p:spPr>
          <a:xfrm>
            <a:off x="411480" y="1901952"/>
            <a:ext cx="7406640" cy="868680"/>
          </a:xfrm>
          <a:prstGeom prst="roundRect">
            <a:avLst>
              <a:gd name="adj" fmla="val 8421"/>
            </a:avLst>
          </a:prstGeom>
          <a:solidFill>
            <a:srgbClr val="162840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722F652-6687-80C3-E2CB-570A327D363B}"/>
              </a:ext>
            </a:extLst>
          </p:cNvPr>
          <p:cNvSpPr/>
          <p:nvPr/>
        </p:nvSpPr>
        <p:spPr>
          <a:xfrm>
            <a:off x="548640" y="2066544"/>
            <a:ext cx="438912" cy="43891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F2EFD9B-3BC9-033B-4CAF-D50C3848B509}"/>
              </a:ext>
            </a:extLst>
          </p:cNvPr>
          <p:cNvSpPr/>
          <p:nvPr/>
        </p:nvSpPr>
        <p:spPr>
          <a:xfrm>
            <a:off x="548640" y="2066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2E0DED6-0502-12B0-3500-93BB0481D4B4}"/>
              </a:ext>
            </a:extLst>
          </p:cNvPr>
          <p:cNvSpPr/>
          <p:nvPr/>
        </p:nvSpPr>
        <p:spPr>
          <a:xfrm>
            <a:off x="1115568" y="1993392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POC, not a proposal</a:t>
            </a:r>
            <a:endParaRPr lang="en-US" sz="13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52016BE-E8C2-69EC-9AE9-1441C9E5C34D}"/>
              </a:ext>
            </a:extLst>
          </p:cNvPr>
          <p:cNvSpPr/>
          <p:nvPr/>
        </p:nvSpPr>
        <p:spPr>
          <a:xfrm>
            <a:off x="1115568" y="2286000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at agent-mesh-sre.vercel.app with a real Confluent for Kubernetes cluster on Civo. 11 Kafka failure scenarios, 4 human-gated approvals, full audit trail.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6379A7-454A-6DEE-8B24-D7977BE2FE55}"/>
              </a:ext>
            </a:extLst>
          </p:cNvPr>
          <p:cNvSpPr/>
          <p:nvPr/>
        </p:nvSpPr>
        <p:spPr>
          <a:xfrm>
            <a:off x="411480" y="2907792"/>
            <a:ext cx="7406640" cy="868680"/>
          </a:xfrm>
          <a:prstGeom prst="roundRect">
            <a:avLst>
              <a:gd name="adj" fmla="val 8421"/>
            </a:avLst>
          </a:prstGeom>
          <a:solidFill>
            <a:srgbClr val="162840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E4DA313-FEE2-E704-252C-0F6F9F7ECCD4}"/>
              </a:ext>
            </a:extLst>
          </p:cNvPr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4DA7601-412E-A0EC-EB20-09F164A3D314}"/>
              </a:ext>
            </a:extLst>
          </p:cNvPr>
          <p:cNvSpPr/>
          <p:nvPr/>
        </p:nvSpPr>
        <p:spPr>
          <a:xfrm>
            <a:off x="548640" y="30723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1FCF2AE-C101-46E9-E4F1-47832355CCDF}"/>
              </a:ext>
            </a:extLst>
          </p:cNvPr>
          <p:cNvSpPr/>
          <p:nvPr/>
        </p:nvSpPr>
        <p:spPr>
          <a:xfrm>
            <a:off x="1115568" y="2999232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prototype for Confluent Smart Platform for AI strategy</a:t>
            </a:r>
            <a:endParaRPr lang="en-US" sz="13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4CEC816-624B-E8D3-B557-85E3370E51CF}"/>
              </a:ext>
            </a:extLst>
          </p:cNvPr>
          <p:cNvSpPr/>
          <p:nvPr/>
        </p:nvSpPr>
        <p:spPr>
          <a:xfrm>
            <a:off x="1115568" y="3291840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Confluent as the streaming backbone for watsonx agents — real-time grounding, policy governance, self-improving knowledge via compacted topics.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2964DFB-2470-F76B-E7C0-40EE38F87127}"/>
              </a:ext>
            </a:extLst>
          </p:cNvPr>
          <p:cNvSpPr/>
          <p:nvPr/>
        </p:nvSpPr>
        <p:spPr>
          <a:xfrm>
            <a:off x="411480" y="3913632"/>
            <a:ext cx="7406640" cy="868680"/>
          </a:xfrm>
          <a:prstGeom prst="roundRect">
            <a:avLst>
              <a:gd name="adj" fmla="val 8421"/>
            </a:avLst>
          </a:prstGeom>
          <a:solidFill>
            <a:srgbClr val="162840"/>
          </a:solidFill>
          <a:ln w="635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7C5FE02-B748-780C-5A99-404DEA1A923A}"/>
              </a:ext>
            </a:extLst>
          </p:cNvPr>
          <p:cNvSpPr/>
          <p:nvPr/>
        </p:nvSpPr>
        <p:spPr>
          <a:xfrm>
            <a:off x="548640" y="4078224"/>
            <a:ext cx="438912" cy="438912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C38C772-A4FD-E562-4410-1F2A069555C8}"/>
              </a:ext>
            </a:extLst>
          </p:cNvPr>
          <p:cNvSpPr/>
          <p:nvPr/>
        </p:nvSpPr>
        <p:spPr>
          <a:xfrm>
            <a:off x="548640" y="4078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B4C1256-14E8-98B7-04A0-4B2493A3404E}"/>
              </a:ext>
            </a:extLst>
          </p:cNvPr>
          <p:cNvSpPr/>
          <p:nvPr/>
        </p:nvSpPr>
        <p:spPr>
          <a:xfrm>
            <a:off x="1115568" y="4005072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Applicable to IBM's largest client verticals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DFC988-D248-52D3-E565-6A39D3B68C12}"/>
              </a:ext>
            </a:extLst>
          </p:cNvPr>
          <p:cNvSpPr/>
          <p:nvPr/>
        </p:nvSpPr>
        <p:spPr>
          <a:xfrm>
            <a:off x="1115568" y="4297680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services, healthcare, government, telco — any regulated IBM client already running Kafka can adopt this pattern without greenfield infrastructure.</a:t>
            </a:r>
            <a:endParaRPr lang="en-US" sz="11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493E09E-7B6B-280D-917D-65F7775F4A0F}"/>
              </a:ext>
            </a:extLst>
          </p:cNvPr>
          <p:cNvSpPr/>
          <p:nvPr/>
        </p:nvSpPr>
        <p:spPr>
          <a:xfrm>
            <a:off x="411480" y="4736592"/>
            <a:ext cx="7406640" cy="347472"/>
          </a:xfrm>
          <a:prstGeom prst="roundRect">
            <a:avLst>
              <a:gd name="adj" fmla="val 21053"/>
            </a:avLst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99B48B7-01DC-D9E2-7A89-06ABEEC60B22}"/>
              </a:ext>
            </a:extLst>
          </p:cNvPr>
          <p:cNvSpPr/>
          <p:nvPr/>
        </p:nvSpPr>
        <p:spPr>
          <a:xfrm>
            <a:off x="502920" y="4754880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agent-mesh-sre.vercel.app  ·  github.com/surajcsibm/agent-mesh-sre-real  ·  Kafka: 212.2.248.241:9092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3565659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43947" y="192024"/>
            <a:ext cx="865067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Roles, One Platform, </a:t>
            </a:r>
            <a:r>
              <a:rPr lang="en-US" sz="3200" b="1" dirty="0">
                <a:solidFill>
                  <a:srgbClr val="1B3A6B"/>
                </a:solidFill>
                <a:latin typeface="Cambria" pitchFamily="34" charset="0"/>
              </a:rPr>
              <a:t>Common problems</a:t>
            </a:r>
            <a:r>
              <a:rPr lang="en-US" sz="3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28600" y="110642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incidents are slow to detect, harder to diagnose, and leave no audit trail.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406908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58368" cy="658368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4813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8448" y="15361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 — Kafka Administrator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98448" y="18196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SRE, owns cluster operations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0352" y="2176272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workflow: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0352" y="245059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68096" y="2423160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consumer lag manually across topics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2871216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8096" y="2843784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Diagnoses controller failovers by reading broker logs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" y="3291840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structured record of remediation actions taken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0352" y="3712464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8096" y="3685032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pages with metric thresholds but no context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4160520"/>
            <a:ext cx="4069080" cy="9144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4169664"/>
            <a:ext cx="4069080" cy="658368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5488" y="42153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this POC: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" y="439826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incident detection and root-cause analysis delivered via approval gate — with a full audit trail.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1325880"/>
            <a:ext cx="406908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956048" y="1481328"/>
            <a:ext cx="658368" cy="65836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956048" y="14813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715000" y="15361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 — Kafka Developer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15000" y="18196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a payments producer and consumer group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956048" y="2176272"/>
            <a:ext cx="3703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workflow: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56048" y="245059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93792" y="2423160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ACK timeouts surface with no root cause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56048" y="2871216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93792" y="2843784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incompatibilities break consumers silently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56048" y="3291840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193792" y="3264408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topic health view outside of custom dashboards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56048" y="3712464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193792" y="3685032"/>
            <a:ext cx="3493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ops team to investigate incidents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54880" y="4183380"/>
            <a:ext cx="4069080" cy="768096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919472" y="42153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b="1" dirty="0">
              <a:solidFill>
                <a:srgbClr val="0891B2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this POC: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19472" y="439826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>
              <a:solidFill>
                <a:srgbClr val="33415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timeouts and schema issues are detected and diagnosed by the Monitor agent. Notifications routed directly.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M→R→A→L Loop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continuous cycle running across four specialised agents, connected by Kafka topics.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1965960" cy="3429000"/>
          </a:xfrm>
          <a:prstGeom prst="roundRect">
            <a:avLst>
              <a:gd name="adj" fmla="val 4651"/>
            </a:avLst>
          </a:prstGeom>
          <a:solidFill>
            <a:srgbClr val="2563A8">
              <a:alpha val="90000"/>
            </a:srgbClr>
          </a:solidFill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29768" y="1463040"/>
            <a:ext cx="1746504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29768" y="1463040"/>
            <a:ext cx="1746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48056" y="1920240"/>
            <a:ext cx="17099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Polls cluster metrics via Kafka Admin API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anomalies against baselines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Raises incidents on ops.incidents.v1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8346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68880" y="1325880"/>
            <a:ext cx="1965960" cy="3429000"/>
          </a:xfrm>
          <a:prstGeom prst="roundRect">
            <a:avLst>
              <a:gd name="adj" fmla="val 4651"/>
            </a:avLst>
          </a:prstGeom>
          <a:solidFill>
            <a:srgbClr val="1D6FA5">
              <a:alpha val="90000"/>
            </a:srgbClr>
          </a:solidFill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578608" y="1463040"/>
            <a:ext cx="1746504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78608" y="1463040"/>
            <a:ext cx="1746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596896" y="1920240"/>
            <a:ext cx="17099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Cross-correlates broker, consumer, and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signals to identify root cause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confidence-scored analysis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8346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617720" y="1325880"/>
            <a:ext cx="1965960" cy="3429000"/>
          </a:xfrm>
          <a:prstGeom prst="roundRect">
            <a:avLst>
              <a:gd name="adj" fmla="val 4651"/>
            </a:avLst>
          </a:prstGeom>
          <a:solidFill>
            <a:srgbClr val="0C7A9E">
              <a:alpha val="90000"/>
            </a:srgbClr>
          </a:solidFill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27448" y="1463040"/>
            <a:ext cx="1746504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27448" y="1463040"/>
            <a:ext cx="1746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45736" y="1920240"/>
            <a:ext cx="17099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and calls the appropriate MCP tool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human approval for any operation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mutates cluster state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283464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766560" y="1325880"/>
            <a:ext cx="1965960" cy="3429000"/>
          </a:xfrm>
          <a:prstGeom prst="roundRect">
            <a:avLst>
              <a:gd name="adj" fmla="val 4651"/>
            </a:avLst>
          </a:prstGeom>
          <a:solidFill>
            <a:srgbClr val="0E8A7A">
              <a:alpha val="90000"/>
            </a:srgbClr>
          </a:solidFill>
          <a:ln w="635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76288" y="1463040"/>
            <a:ext cx="1746504" cy="347472"/>
          </a:xfrm>
          <a:prstGeom prst="roundRect">
            <a:avLst>
              <a:gd name="adj" fmla="val 15789"/>
            </a:avLst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76288" y="1463040"/>
            <a:ext cx="1746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94576" y="1920240"/>
            <a:ext cx="1709928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outcome, lag delta, and notes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ops.lessons.v1 (log-compacted)</a:t>
            </a:r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DBE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back into the next Monitor cycle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4754880"/>
            <a:ext cx="8503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feed back into Monitor on the next cycle  →  the system refines its detection over time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DESIGN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Agents, Single Responsibility Each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08736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66344" y="1106424"/>
            <a:ext cx="548640" cy="548640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66344" y="11064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4712" y="1106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4712" y="138074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Gateway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6344" y="1673352"/>
            <a:ext cx="251460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 for operator-initiated requests. Validates and routes to the mesh via ops.requests.v1. Exposes intake.submitOpsRequest.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44952" y="1673352"/>
            <a:ext cx="12344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Produces to: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ops.requests.v1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36008" y="960120"/>
            <a:ext cx="408736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82312" y="1106424"/>
            <a:ext cx="548640" cy="548640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82312" y="11064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40680" y="1106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40680" y="138074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MRAL Coordinator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82312" y="1673352"/>
            <a:ext cx="251460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Drives the full M→R→A→L cycle. Consumes metrics, raises incidents, calls remediation tools, records lessons. The core agent.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60920" y="1673352"/>
            <a:ext cx="12344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Produces to: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ops.incidents.v1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ops.actions.audit.v1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ops.lessons.v1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8736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" y="3044952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6344" y="3044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24712" y="3044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" y="331927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Postmortem Authoring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" y="3611880"/>
            <a:ext cx="251460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structured incident reports after scenario completion. Consumes from ops.incidents.v1. Tool: writer.draftIncidentReport.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44952" y="3611880"/>
            <a:ext cx="12344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Produces to: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ops.actions.audit.v1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36008" y="2898648"/>
            <a:ext cx="408736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82312" y="3044952"/>
            <a:ext cx="548640" cy="548640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82312" y="3044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440680" y="3044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40680" y="331927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Routing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82312" y="3611880"/>
            <a:ext cx="251460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alerts to Slack, ITSM, and email on completion or escalation. Tools: notify.slack, itsm.openTicket.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60920" y="3611880"/>
            <a:ext cx="12344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Produces to: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ops.notifications.v1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DESIGN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Topics — Purpose-Built Retention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Confluent for Kubernetes on Civo  ·  KRaft mode  ·  RF=3  ·  212.2.248.241:9092</a:t>
            </a:r>
            <a:endParaRPr lang="en-US" sz="105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1234440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364992" y="123444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005072" y="1234440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736592" y="123444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532120" y="12344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7472" y="1554480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728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59105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ops.requests.v1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64992" y="159105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05072" y="159105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36592" y="159105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32120" y="159105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requests from Intake agent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7472" y="2048256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E345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" y="20848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ops.kafka.metrics.v1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20848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05072" y="208483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36592" y="208483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532120" y="208483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telemetry polled by Monitor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47472" y="2542032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728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" y="25786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ops.incidents.v1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64992" y="257860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05072" y="257860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5786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532120" y="257860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raised by Monitor agent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7472" y="3035808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E345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7472" y="30723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ops.actions.audit.v1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64992" y="3072384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05072" y="307238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365 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36592" y="307238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32120" y="30723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 — every action and decision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7472" y="3529584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728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47472" y="3566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ops.lessons.v1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364992" y="356616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05072" y="35661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∞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36592" y="35661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532120" y="3566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 — compacted, always available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47472" y="4023360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E3454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47472" y="40599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ops.notifications.v1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364992" y="405993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005072" y="405993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36592" y="405993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532120" y="405993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alerts (Slack, ITSM, email)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47472" y="4517136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1728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47472" y="45537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demo.payments.events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364992" y="4553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005072" y="455371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736592" y="45537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53212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workload — high partition count for lag simulation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COVERAGE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Operational Scenarios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Covering consumer, producer, controller, schema, replication, and storage failure modes.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48056" y="131673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Lag Spike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8056" y="1572768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approval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035808" y="1325880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35808" y="132588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KIP-848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13048" y="1325880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13048" y="132588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1856232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8056" y="19385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KRaft Controller Failover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" y="2194560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35808" y="1947672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35808" y="194767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KRaft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13048" y="1947672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13048" y="1947672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2478024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8056" y="25603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Group Rebalance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" y="2816352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approval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35808" y="2569464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35808" y="256946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KIP-932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13048" y="2569464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13048" y="2569464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099816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48056" y="318211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False-Positive Suppression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8056" y="343814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035808" y="3191256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35808" y="319125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KIP-848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813048" y="3191256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813048" y="319125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3721608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48056" y="380390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Registry Mismatch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8056" y="4059936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approval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35808" y="3813048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381304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Avro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13048" y="3813048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813048" y="3813048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343400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48056" y="442569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Disk Saturation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48056" y="4681728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35808" y="4434840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035808" y="44348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I/O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813048" y="4434840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813048" y="443484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36008" y="1234440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764024" y="131673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Under-Replicated Partitions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764024" y="1572768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approval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51776" y="1325880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351776" y="132588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129016" y="1325880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129016" y="132588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636008" y="1856232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764024" y="19385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Timeout Storm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4764024" y="2194560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351776" y="1947672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351776" y="194767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129016" y="1947672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8129016" y="1947672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636008" y="2478024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764024" y="256032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Session Timeout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4764024" y="2816352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351776" y="2569464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7351776" y="256946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129016" y="2569464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129016" y="2569464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36008" y="3099816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764024" y="318211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Compaction Lag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4764024" y="343814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351776" y="3191256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7351776" y="319125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8129016" y="3191256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8129016" y="3191256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636008" y="3721608"/>
            <a:ext cx="4087368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4764024" y="380390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Imbalance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764024" y="4059936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remediation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7351776" y="3813048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63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7351776" y="381304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129016" y="3813048"/>
            <a:ext cx="493776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8129016" y="3813048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20040" y="490575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161288" y="4891337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 =  human approval required before execution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846320" y="4885869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6350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751576" y="4873049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 =  Monitor agent acts without intervention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Approval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914400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cluster-mutating operation executes without operator review. Every decision is recorded in ops.actions.audit.v1.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4048" y="1353312"/>
            <a:ext cx="329184" cy="329184"/>
          </a:xfrm>
          <a:prstGeom prst="ellipse">
            <a:avLst/>
          </a:prstGeom>
          <a:solidFill>
            <a:srgbClr val="2563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3898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detected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682496"/>
            <a:ext cx="0" cy="201168"/>
          </a:xfrm>
          <a:prstGeom prst="line">
            <a:avLst/>
          </a:prstGeom>
          <a:noFill/>
          <a:ln w="1270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4048" y="1883664"/>
            <a:ext cx="329184" cy="329184"/>
          </a:xfrm>
          <a:prstGeom prst="ellipse">
            <a:avLst/>
          </a:prstGeom>
          <a:solidFill>
            <a:srgbClr val="1D6F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4048" y="1883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analysis run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212848"/>
            <a:ext cx="0" cy="201168"/>
          </a:xfrm>
          <a:prstGeom prst="line">
            <a:avLst/>
          </a:prstGeom>
          <a:noFill/>
          <a:ln w="1270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4048" y="2414016"/>
            <a:ext cx="329184" cy="329184"/>
          </a:xfrm>
          <a:prstGeom prst="ellipse">
            <a:avLst/>
          </a:prstGeom>
          <a:solidFill>
            <a:srgbClr val="0C7A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404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" y="24505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 call proposed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0" cy="201168"/>
          </a:xfrm>
          <a:prstGeom prst="line">
            <a:avLst/>
          </a:prstGeom>
          <a:noFill/>
          <a:ln w="1270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4048" y="2944368"/>
            <a:ext cx="329184" cy="32918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4048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29809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paused at gate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273552"/>
            <a:ext cx="0" cy="201168"/>
          </a:xfrm>
          <a:prstGeom prst="line">
            <a:avLst/>
          </a:prstGeom>
          <a:noFill/>
          <a:ln w="1270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4048" y="3474720"/>
            <a:ext cx="329184" cy="32918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4048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" y="351129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reviews context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803904"/>
            <a:ext cx="0" cy="201168"/>
          </a:xfrm>
          <a:prstGeom prst="line">
            <a:avLst/>
          </a:prstGeom>
          <a:noFill/>
          <a:ln w="12700">
            <a:solidFill>
              <a:srgbClr val="334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84048" y="4005072"/>
            <a:ext cx="329184" cy="329184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4048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4672" y="40416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or Reject — both paths audited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983480" y="1261872"/>
            <a:ext cx="3840480" cy="3657600"/>
          </a:xfrm>
          <a:prstGeom prst="roundRect">
            <a:avLst>
              <a:gd name="adj" fmla="val 2500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66360" y="13898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modal shows: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166360" y="175564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13248" y="171907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MCP tool call + parameters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66360" y="225856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13248" y="222199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from Monitor agent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0" y="276148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13248" y="272491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mutation risk level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166360" y="326440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13248" y="322783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— highest-confidence finding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0" y="376732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413248" y="373075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Root Causes — ranked candidates,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probable highlighted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6360" y="4270248"/>
            <a:ext cx="164592" cy="164592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13248" y="4233672"/>
            <a:ext cx="3246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 /  Reject — No Action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Incident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scenario produces a ranked set of candidate causes alongside the actual finding 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" y="1298448"/>
            <a:ext cx="8449056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417320"/>
            <a:ext cx="8092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— Consumer Lag Spike on payments-consumer-group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1719072"/>
            <a:ext cx="80924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792224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847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58368" y="2048256"/>
            <a:ext cx="7818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group processing rate fell below producer write rate for a sustained period.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" y="261518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ROOT CAUSES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237744" cy="237744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9169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7824" y="2898648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group processing rate fell below producer write rate for a sustained period.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237744" cy="237744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77824" y="3319272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dependency slowdown (database or I/O bottleneck) caused consumer thread stalls.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58184"/>
            <a:ext cx="237744" cy="237744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3758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7824" y="3739896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Mid-consumption partition rebalance interrupted offset progress.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178808"/>
            <a:ext cx="237744" cy="237744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4178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77824" y="4160520"/>
            <a:ext cx="7818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partition count insufficient for current consumer group size.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7DB4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Trail, Lessons, and Real-Time Visibility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2743200" cy="3858768"/>
          </a:xfrm>
          <a:prstGeom prst="roundRect">
            <a:avLst>
              <a:gd name="adj" fmla="val 3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48056" y="1152144"/>
            <a:ext cx="2487168" cy="310896"/>
          </a:xfrm>
          <a:prstGeom prst="roundRect">
            <a:avLst>
              <a:gd name="adj" fmla="val 17647"/>
            </a:avLst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48056" y="115214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" y="158191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155448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action recorded with timestamp and actor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" y="213055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04088" y="210312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 parameters and execution result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267919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4088" y="265176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and rejection decisions attributed by identity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" y="322783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" y="320040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and consume events across all 7 topics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" y="3776472"/>
            <a:ext cx="146304" cy="146304"/>
          </a:xfrm>
          <a:prstGeom prst="ellipse">
            <a:avLst/>
          </a:prstGeom>
          <a:solidFill>
            <a:srgbClr val="3B8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" y="374904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Persisted to ops.actions.audit.v1 (365-day retention)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27832" y="1024128"/>
            <a:ext cx="2743200" cy="3858768"/>
          </a:xfrm>
          <a:prstGeom prst="roundRect">
            <a:avLst>
              <a:gd name="adj" fmla="val 3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355848" y="1152144"/>
            <a:ext cx="2487168" cy="310896"/>
          </a:xfrm>
          <a:prstGeom prst="roundRect">
            <a:avLst>
              <a:gd name="adj" fmla="val 17647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55848" y="115214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83280" y="158191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11880" y="155448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after each resolved scenario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213055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11880" y="210312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 action taken, outcome, lag delta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267919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11880" y="265176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threshold recommendation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322783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11880" y="320040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Effectiveness rating (Effective / Needs Review)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383280" y="377647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74904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to ops.lessons.v1 — log-compacted, no expiry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35624" y="1024128"/>
            <a:ext cx="2743200" cy="3858768"/>
          </a:xfrm>
          <a:prstGeom prst="roundRect">
            <a:avLst>
              <a:gd name="adj" fmla="val 3333"/>
            </a:avLst>
          </a:prstGeom>
          <a:solidFill>
            <a:srgbClr val="162840"/>
          </a:solidFill>
          <a:ln w="6350">
            <a:solidFill>
              <a:srgbClr val="E2E8F0"/>
            </a:solidFill>
            <a:prstDash val="solid"/>
          </a:ln>
          <a:effectLst>
            <a:outerShdw blurRad="76200" dist="25400" dir="2700000" algn="bl" rotWithShape="0">
              <a:srgbClr val="1B3A6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263640" y="1152144"/>
            <a:ext cx="2487168" cy="310896"/>
          </a:xfrm>
          <a:prstGeom prst="roundRect">
            <a:avLst>
              <a:gd name="adj" fmla="val 17647"/>
            </a:avLst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63640" y="115214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Event Stream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1072" y="1581912"/>
            <a:ext cx="146304" cy="14630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19672" y="155448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Server-Sent Events (SSE) feed from the server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91072" y="2130552"/>
            <a:ext cx="146304" cy="14630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9672" y="210312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Drives the animated agent mesh canvas in the UI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91072" y="2679192"/>
            <a:ext cx="146304" cy="14630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519672" y="265176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Per-topic health: lag, offset, partition count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91072" y="3227832"/>
            <a:ext cx="146304" cy="14630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9672" y="320040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group tracking per scenario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1072" y="3776472"/>
            <a:ext cx="146304" cy="146304"/>
          </a:xfrm>
          <a:prstGeom prst="ellipse">
            <a:avLst/>
          </a:prstGeom>
          <a:solidFill>
            <a:srgbClr val="1B7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9672" y="3749040"/>
            <a:ext cx="2331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topology: epoch, ACLs, mTLS status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ops.lessons.v1 is log-compacted — lessons are never expired, and the Monitor agent reads them on every startup cycle.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321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STACK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— POC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005840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29968" y="1078992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148840" y="1060704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(App Router)  ·  TypeScript 5  ·  React 18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" y="1499616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5544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Client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9968" y="1572768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48840" y="155448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KafkaJS  ·  Admin API  ·  Producer / Consumer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7472" y="1993392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0482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UI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29968" y="2066544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48840" y="204825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Server-Sent Events (SSE)  ·  React Flow (agent canvas)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47472" y="2487168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5420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Tooling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29968" y="2560320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48840" y="2542032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(Model Context Protocol)  ·  JSON-RPC tool registry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47472" y="2980944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0358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029968" y="3054096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148840" y="303580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Confluent for Kubernetes (CFK) 8.2 . Kafka . </a:t>
            </a:r>
            <a:r>
              <a:rPr lang="en-US" sz="115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KRaft</a:t>
            </a: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r>
              <a:rPr lang="en-US" sz="115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Civo.com</a:t>
            </a: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Bootstrap 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7472" y="3474720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35295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029968" y="3547872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148840" y="3529584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state (client UI)  ·  Kafka topics (persistent)  ·  localStorage (lesson cache)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47472" y="3968496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40233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029968" y="4041648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148840" y="4023360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 v4  ·  Google OAuth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47472" y="4462272"/>
            <a:ext cx="8449056" cy="438912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45171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Deploy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29968" y="4535424"/>
            <a:ext cx="0" cy="29260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148840" y="451713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(Free tier, Cloud Platform, self managed )  ·  Public GitHub CI  ·  Auto-deploy on push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47472" y="5010912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scope: single-process deployment. A production version would deploy each agent as an independent service with dedicated consumer groups.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Words>2618</Words>
  <Application>Microsoft Macintosh PowerPoint</Application>
  <PresentationFormat>On-screen Show (16:9)</PresentationFormat>
  <Paragraphs>378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Mesh SRE — Kafka Operations POC</dc:title>
  <dc:subject>PptxGenJS Presentation</dc:subject>
  <dc:creator>PptxGenJS</dc:creator>
  <cp:lastModifiedBy>Suraj C S</cp:lastModifiedBy>
  <cp:revision>5</cp:revision>
  <dcterms:created xsi:type="dcterms:W3CDTF">2026-06-18T06:12:00Z</dcterms:created>
  <dcterms:modified xsi:type="dcterms:W3CDTF">2026-06-18T14:27:13Z</dcterms:modified>
</cp:coreProperties>
</file>